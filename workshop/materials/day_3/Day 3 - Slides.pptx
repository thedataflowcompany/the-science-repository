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8"/>
  </p:notesMasterIdLst>
  <p:sldIdLst>
    <p:sldId id="400" r:id="rId2"/>
    <p:sldId id="401" r:id="rId3"/>
    <p:sldId id="402" r:id="rId4"/>
    <p:sldId id="483" r:id="rId5"/>
    <p:sldId id="485" r:id="rId6"/>
    <p:sldId id="486" r:id="rId7"/>
    <p:sldId id="487" r:id="rId8"/>
    <p:sldId id="488" r:id="rId9"/>
    <p:sldId id="489" r:id="rId10"/>
    <p:sldId id="490" r:id="rId11"/>
    <p:sldId id="491" r:id="rId12"/>
    <p:sldId id="492" r:id="rId13"/>
    <p:sldId id="493" r:id="rId14"/>
    <p:sldId id="494" r:id="rId15"/>
    <p:sldId id="495" r:id="rId16"/>
    <p:sldId id="496" r:id="rId17"/>
    <p:sldId id="497" r:id="rId18"/>
    <p:sldId id="498" r:id="rId19"/>
    <p:sldId id="499" r:id="rId20"/>
    <p:sldId id="500" r:id="rId21"/>
    <p:sldId id="501" r:id="rId22"/>
    <p:sldId id="502" r:id="rId23"/>
    <p:sldId id="503" r:id="rId24"/>
    <p:sldId id="504" r:id="rId25"/>
    <p:sldId id="505" r:id="rId26"/>
    <p:sldId id="506" r:id="rId27"/>
    <p:sldId id="507" r:id="rId28"/>
    <p:sldId id="508" r:id="rId29"/>
    <p:sldId id="509" r:id="rId30"/>
    <p:sldId id="510" r:id="rId31"/>
    <p:sldId id="511" r:id="rId32"/>
    <p:sldId id="512" r:id="rId33"/>
    <p:sldId id="484" r:id="rId34"/>
    <p:sldId id="405" r:id="rId35"/>
    <p:sldId id="418" r:id="rId36"/>
    <p:sldId id="454" r:id="rId37"/>
  </p:sldIdLst>
  <p:sldSz cx="9144000" cy="5143500" type="screen16x9"/>
  <p:notesSz cx="6858000" cy="9144000"/>
  <p:embeddedFontLst>
    <p:embeddedFont>
      <p:font typeface="Barlow Semi Condensed" pitchFamily="2" charset="77"/>
      <p:regular r:id="rId39"/>
      <p:bold r:id="rId40"/>
      <p:italic r:id="rId41"/>
      <p:boldItalic r:id="rId42"/>
    </p:embeddedFont>
    <p:embeddedFont>
      <p:font typeface="Barlow Semi Condensed Medium" pitchFamily="2" charset="77"/>
      <p:regular r:id="rId43"/>
      <p:bold r:id="rId44"/>
      <p:italic r:id="rId45"/>
      <p:boldItalic r:id="rId46"/>
    </p:embeddedFont>
    <p:embeddedFont>
      <p:font typeface="Consolas" panose="020B0609020204030204" pitchFamily="49" charset="0"/>
      <p:regular r:id="rId47"/>
      <p:bold r:id="rId48"/>
      <p:italic r:id="rId49"/>
      <p:boldItalic r:id="rId50"/>
    </p:embeddedFont>
    <p:embeddedFont>
      <p:font typeface="Montserrat" pitchFamily="2" charset="77"/>
      <p:regular r:id="rId51"/>
      <p:bold r:id="rId52"/>
      <p:italic r:id="rId53"/>
      <p:boldItalic r:id="rId54"/>
    </p:embeddedFont>
    <p:embeddedFont>
      <p:font typeface="Montserrat Light" panose="00000400000000000000" pitchFamily="2" charset="77"/>
      <p:regular r:id="rId55"/>
      <p:italic r:id="rId56"/>
    </p:embeddedFont>
    <p:embeddedFont>
      <p:font typeface="Montserrat Medium" panose="00000600000000000000" pitchFamily="2" charset="77"/>
      <p:regular r:id="rId57"/>
      <p:italic r:id="rId58"/>
    </p:embeddedFont>
    <p:embeddedFont>
      <p:font typeface="Montserrat SemiBold" panose="00000700000000000000" pitchFamily="2" charset="77"/>
      <p:regular r:id="rId59"/>
      <p:bold r:id="rId60"/>
      <p:italic r:id="rId61"/>
      <p:boldItalic r:id="rId62"/>
    </p:embeddedFont>
    <p:embeddedFont>
      <p:font typeface="Roboto Slab" pitchFamily="2" charset="0"/>
      <p:regular r:id="rId63"/>
      <p:bold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F4F5"/>
    <a:srgbClr val="F4FBFB"/>
    <a:srgbClr val="F3FAFA"/>
    <a:srgbClr val="EAF3F4"/>
    <a:srgbClr val="ECF5F6"/>
    <a:srgbClr val="E5EEEF"/>
    <a:srgbClr val="EDF3F3"/>
    <a:srgbClr val="009051"/>
    <a:srgbClr val="CDC9C6"/>
    <a:srgbClr val="FF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1D5AB1-EDAE-49F7-95AD-5C3D3AD60792}">
  <a:tblStyle styleId="{511D5AB1-EDAE-49F7-95AD-5C3D3AD607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/>
    <p:restoredTop sz="94726"/>
  </p:normalViewPr>
  <p:slideViewPr>
    <p:cSldViewPr snapToGrid="0">
      <p:cViewPr varScale="1">
        <p:scale>
          <a:sx n="160" d="100"/>
          <a:sy n="160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63" Type="http://schemas.openxmlformats.org/officeDocument/2006/relationships/font" Target="fonts/font25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font" Target="fonts/font20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2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64" Type="http://schemas.openxmlformats.org/officeDocument/2006/relationships/font" Target="fonts/font26.fntdata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font" Target="fonts/font21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62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font" Target="fonts/font22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231fce6b6_0_6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231fce6b6_0_6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Main message: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Over the next three days, we will build one reproducible research project from the ground up.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Speaker note: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Today is not about becoming an R expert. Today is about understanding the set-up and structure: what R is, what RStudio does, how projects are structured, why GitHub matters, and how to avoid the most common traps.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5aaaac0d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5aaaac0db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dk1"/>
                </a:solidFill>
              </a:rPr>
              <a:t>Speaker note:</a:t>
            </a:r>
            <a:br>
              <a:rPr lang="en" b="1" dirty="0">
                <a:solidFill>
                  <a:schemeClr val="dk1"/>
                </a:solidFill>
              </a:rPr>
            </a:br>
            <a:r>
              <a:rPr lang="en" dirty="0">
                <a:solidFill>
                  <a:schemeClr val="dk1"/>
                </a:solidFill>
              </a:rPr>
              <a:t> Everything today prepares the ground for the analysis and reporting work later. If the scaffolding is clear, the analysis becomes much easier to understand and debug.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Without scaffolding:</a:t>
            </a:r>
            <a:br>
              <a:rPr lang="en" dirty="0"/>
            </a:br>
            <a:r>
              <a:rPr lang="en" dirty="0"/>
              <a:t> “Where is my file?”</a:t>
            </a:r>
            <a:br>
              <a:rPr lang="en" dirty="0"/>
            </a:br>
            <a:r>
              <a:rPr lang="en" dirty="0"/>
              <a:t> “Which script did I run?”</a:t>
            </a:r>
            <a:br>
              <a:rPr lang="en" dirty="0"/>
            </a:br>
            <a:r>
              <a:rPr lang="en" dirty="0"/>
              <a:t> “Which version is correct?”</a:t>
            </a:r>
            <a:br>
              <a:rPr lang="en" dirty="0"/>
            </a:br>
            <a:r>
              <a:rPr lang="en" dirty="0"/>
              <a:t> “Why does it work on your laptop but not mine?”</a:t>
            </a:r>
            <a:br>
              <a:rPr lang="en" dirty="0"/>
            </a:br>
            <a:r>
              <a:rPr lang="en" dirty="0"/>
              <a:t> “Can I safely share this?”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With scaffolding:</a:t>
            </a:r>
            <a:br>
              <a:rPr lang="en" dirty="0"/>
            </a:br>
            <a:r>
              <a:rPr lang="en" dirty="0"/>
              <a:t> Files have a place.</a:t>
            </a:r>
            <a:br>
              <a:rPr lang="en" dirty="0"/>
            </a:br>
            <a:r>
              <a:rPr lang="en" dirty="0"/>
              <a:t> Scripts have an order.</a:t>
            </a:r>
            <a:br>
              <a:rPr lang="en" dirty="0"/>
            </a:br>
            <a:r>
              <a:rPr lang="en" dirty="0"/>
              <a:t> Outputs can be recreated.</a:t>
            </a:r>
            <a:br>
              <a:rPr lang="en" dirty="0"/>
            </a:br>
            <a:r>
              <a:rPr lang="en" dirty="0"/>
              <a:t> Changes are documented.</a:t>
            </a:r>
            <a:br>
              <a:rPr lang="en" dirty="0"/>
            </a:br>
            <a:r>
              <a:rPr lang="en" dirty="0"/>
              <a:t> Collaboration becomes possible.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scene without hype. The honest framing: these tools got good *fast*, and they are now genuinely useful for the exact work this workshop teaches — reading data, writing R, documenting decisions. We are not replacing the skills from Days 1–2; we are adding an assistant that only becomes safe and useful *because* you now understand the workflow underneath. That's the whole reason "Supercharge" comes last, not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it. People imagine a magic oracle or a search engine; it's neither. The single training objective — predict the next token — is worth saying out loud, because it explains both the strengths (fluent, pattern-rich, great at code it has seen a million variations of) and the failure mode we'll hit later: it can predict a *plausible* answer that is simply wrong (a "hallucination"). A token is roughly a word or part of a word — "reproducible" might be `repro` + `ducible`.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if you can — type a half-finished line and let the room call out the next word before the model does. The third example is the teaching moment: the model confidently completes the formula with a variable that *sounds* right for a consumer study, but it has no idea what's actually in your dataset unless you show it. That's the bridge to the next section: an LLM is only as good as the context you give it — and your repo is full of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honest contract for the rest of the day. The model is a strong junior collaborator: fast, fluent, tireless, occasionally and confidently wrong. Your Day 1–2 skills are exactly what let you catch the "confidently wrong" cases. Keep returning to two words: **context** and **verify**. The next section shows that a well-structured repo is the best context-delivery machine there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section: the habits we taught for *reproducibility* (structure, version control, plain-text scripts) turn out to be the same habits that make AI assistance *safe and effective*. This is not a coincidence — both want the same thing: work that is explicit, inspectable, and reversible. Walk through the four points one slide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Day 1 argument for open tooling. A hidden benefit of building on R, tidyverse, Quarto and Git: these are some of the most-documented, most-discussed tools on the internet, so the model has seen every common pattern and error. Ask an LLM about a `ggplot` layer or a Quarto YAML key and it answers well; ask about a bespoke internal macro and it guesses. Open-source choices pay off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idea of the section. An LLM with no context invents plausible nonsense; the same LLM *pointed at your files* produces code that fits your project. A clean, well-named repo is essentially pre-written context. We'll make this literal later with "Copy Relative Path" — handing the model the exact file to read. The better your Day 1 structure, the better every prompt you ever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safety mechanism that makes AI assistance acceptable in research. The nightmare scenario — "the AI silently changed something and now my results are different" — is exactly what Git prevents. Every AI edit shows up as a diff you can read, accept, or throw away. Reviewing an AI's diff is the same skill as reviewing a collaborator's pull request from Day 2. The VS Code Source Control panel shows these diffs visually; we'll see it shortly.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section by combining the previous two ideas. Branches (Day 2) turn the AI from a risk into a free experiment: spin up a branch, let it attempt something ambitious, and you have a guaranteed escape hatch. Worst case you `git switch main` and the branch is gone. This is why people who know Git are comfortable handing an agent real work — the blast radius is contained.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we are not abandoning RStudio. RStudio remains the friendliest place to learn R and to use the Console/Environment panes. VS Code earns its place today for one reason — it is where the AI ecosystem lives. Almost every assistant ships as a VS Code extension first. Reassure nervous participants: the project, the files, and Git are identical; only the window around them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lowers the fear. Go pane by pane and name the VS Code equivalent. The two biggest mental shifts: (1) you open a *folder* (or the `.code-workspace` file), not an `.Rproj`; and (2) there's no always-on Environment pane — you lean on the Console and the data viewer from the R extension instead. The Explorer (file tree), the editor, and Source Control will feel familiar within minutes. Demo it live with this exact repo open in both editors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slow and browser-then-install, mirroring Day 1's install discipline. The single most common stumble is opening a *file* instead of the *folder* — if the Explorer looks empty or Git doesn't show up, that's almost always the cause. Walk the room. This is a low-risk install (no admin tricks, no PATH issues like Git had on Day 1), so it should go quickly and build confidence before the model installs.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extensions, two jobs. The R and Quarto extensions rebuild the parts of RStudio you'd miss (running code, rendering reports). Continue and Copilot are the AI layer — Continue because it can point at a *local, private* model (the next section), Copilot because its free tier lets everyone try a real assistant with no credit card. Mention that the R extension also wants the `languageserver` R package installed (`install.packages("languageserver")`) for full features — flag it so it's not a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Day 3 data-protection checkpoint, now aimed squarely at AI. The mental model: the assistant is another place data can leak to, alongside Git, email, and Overleaf. Cloud assistants (ChatGPT, Claude, Copilot) send what you show them to a server. The good news, on the next two slides: this repo is *configured* to keep your raw data out of the assistant's reach by default — you don't have to remember to be careful, the project remembers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`.llm.code-workspace` file live and show `data/raw/` literally vanishing from the Explorer. The point: this is the *first* line of defense and it's ergonomic — you can't accidentally drag a raw-data file into a prompt if you can't even see it. Stress that `data/mock/` (synthetic) remains visible on purpose, so the workshop exercises still work. When working with AI, open the `.llm` workspace; that's the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belt *and* suspenders. The workspace *hides* the data; `.claude/settings.json` *forbids* reading it even if something tries. Great live demo (it actually happened while building these slides): ask the assistant to read a file under `data/raw/` and watch it get denied with a message naming the rule. If a task genuinely needs real data, you edit the rule for that session and revert — a deliberate, logged choice, not an accident. The honest caveat is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security block honestly. The repo protects the *integrated* path — the assistant working inside your project. It cannot protect a browser tab where you paste a spreadsheet into a chat box. That last gap is a human decision, which loops back to the checkpoint rule: scripts yes, raw data no, outputs only if non-identifiable. Optionally mention the manuscript's AI-use statement here as the place you *disclose* what you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three-tool map so names stop being confusing. Hugging Face is the catalog (you'll see it referenced everywhere). LM Studio is the easiest on-ramp — a normal app with a search box and a chat window, no terminal. Continue is the bridge into VS Code we installed earlier. The headline selling point of all three: the model runs *on your laptop*, so it's the privacy-preserving option for sensitive data — nothing is sent to a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 expectations hard. Many people in the room have laptops that will struggle — say so up front so a slow or dumb local model feels like a *successful demo of the concept*, not a personal failure. Qwen2.5-0.5B is the "runs on a potato" choice; it's not smart, but it proves the pipeline end to end. "Quantisation" in one line: a compressed version of the model — smaller and faster, slightly less precise; Q4 is the sweet spot. Bigger models are better but need RAM; don't let anyone download an 8B model onto a 4 GB machine and conclude AI is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confidence-builder. The win condition is low on purpose: any coherent sentence = success. Tie the streaming output back to Slide E3 — they are literally watching "predict the next token" happen. Have a fallback ready (a neighbour's machine, or your own screen) so people on weak hardware still see it work. Optional stretch goal for the fast finishers: open Continue in VS Code and point it at the LM Studio model so the assistant lives next to their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the local-model section by positioning it honestly against what's next. The local model's superpower is privacy; its weakness is capability. Frontier models flip both. The decision rule is about the *data*, not the task: if it's sensitive, keep it local (or don't send it at all); if it's the public/mock project, the frontier model's power is worth it. This sets up the final, most impressive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heavyweights briefly and without brand wars — both are excellent; the point is the *class* of tool. The key reframing for the room: with frontier models, your leverage comes from how well you *describe and contextualise* the task, not from how well you write R by hand. A mediocre prompt wastes a brilliant model. The rest of the section teaches the prompting craft and then proves it with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wow moment — run it live on the mock-data project if you possibly can. Narrate *why* it works: it names the files to imitate (context), states concrete numbered tasks, sets guardrails (`data/` off-limits, work on a branch), and asks to review the diff before committing — every safety idea from Parts E.2 and E.4 in one prompt. When the model produces a function, a plot, and a written paragraph that all fit the project, the point lands itself. Then immediately deconstruct it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a portable checklist they'll remember: Context, Task, Constraints, Review. The "new research assistant" analogy is the one that sticks — you wouldn't tell a new RA "do the stats," you'd point them at the existing scripts, list the steps, say what's off-limits, and ask to see a draft. Same here. The difference between a frustrating AI experience and a magical one is almost always the prompt,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concrete bridge between "the repo is context" (E7) and actually using it. Demonstrate the right-click: a relative path like `R/functions/analysis.R` is exactly what you drop into a prompt so the model knows precisely what to read — and relative (not absolute) paths keep it portable and don't leak your home directory. Show the `@`-mention too, since that's the smoothest workflow inside the assistants. Tiny skill, enormous payoff in answer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"graduate" technique — flag it as optional/advanced and keep it light. The insight: agreeing the plan *before* any code is written prevents the model from charging off in the wrong direction, and writing it as `prd.md`/`tasks.md` in the repo means the plan is both context for the model and a decision log for you (echoes Day 1's decision log). The "Wiggum loop" is the informal name for running the agent repeatedly against the same task list until it's complete — persistence over cleverness. Don't over-teach it; plant the seed for the optional support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exercise of the day and the synthesis of everything: a real assistant (Copilot's free tier removes the cost barrier), grounded in a real file (Copy Relative Path), driven by a structured prompt (Context/Task/Constraints/Review), inside the safe `.llm` workspace. The reflection questions matter more than the code: context visibly improves answers, and *their* Day 1–2 judgement is what decides if the output is trustworthy. End on that empowerment note — the AI is the assistant, they are still the researcher.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 algn="l">
              <a:lnSpc>
                <a:spcPct val="110000"/>
              </a:lnSpc>
              <a:buFontTx/>
              <a:buChar char="-"/>
            </a:pPr>
            <a:r>
              <a:rPr lang="en-US" sz="11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      the photo-log of every version  →  and how you share with other cooks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Char char="-"/>
              <a:tabLst/>
              <a:defRPr/>
            </a:pPr>
            <a:endParaRPr lang="en-US" sz="1100" dirty="0">
              <a:solidFill>
                <a:srgbClr val="163C44"/>
              </a:solidFill>
              <a:latin typeface="Consolas" pitchFamily="34" charset="0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lang="en-US" dirty="0"/>
              <a:t>- This is the through-line for the day — we will keep coming back to it. The repo is a kitchen. Today we mostly set up our kitchen and make sure all appliances work; we actually properly *cook* on Day 2. The one idea to plant now: you write the recipe once and prepare the appliances and techniques once in the kitchen — then several dishes (website, paper) are plated from that same sauce. Best thing about it, every cook in the whole world can create your dish using this set-up.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lang="en-US" dirty="0"/>
              <a:t>- This is the single most important idea of the repo. `R/` is the source of truth for the numbers; `reports/` are just different ways to use and present them; `renders/` are the built products. Change a function in `R/` and both the website and the paper update on the next render. We'll see each folder today.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endParaRPr lang="en-US" dirty="0"/>
          </a:p>
          <a:p>
            <a:pPr marL="171450" indent="-171450" algn="l">
              <a:lnSpc>
                <a:spcPct val="110000"/>
              </a:lnSpc>
              <a:buFontTx/>
              <a:buChar char="-"/>
            </a:pPr>
            <a:endParaRPr lang="en-US" sz="1100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057950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the words from this morning's vocabulary check? This is the same list, now as done/not-done. Run through it as an exit check. Anyone with unticked boxes should grab the optional support session — it helps for Day 2 if all of this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 Workshop TDFC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854275" y="1181375"/>
            <a:ext cx="6750900" cy="207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100"/>
              <a:buFont typeface="Montserrat"/>
              <a:buNone/>
              <a:defRPr sz="41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854276" y="3185525"/>
            <a:ext cx="67509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ntserrat SemiBold"/>
              <a:buNone/>
              <a:defRPr sz="2800">
                <a:solidFill>
                  <a:schemeClr val="accent5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12" name="Google Shape;12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00"/>
              <a:buFont typeface="Montserrat"/>
              <a:buNone/>
              <a:defRPr sz="27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100"/>
              <a:buFont typeface="Montserrat"/>
              <a:buNone/>
              <a:defRPr sz="91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971800" y="328748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Text 1">
  <p:cSld name="TITLE_AND_BODY_2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>
            <a:off x="518550" y="1400075"/>
            <a:ext cx="8106900" cy="32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23000" y="516550"/>
            <a:ext cx="7908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523000" y="943363"/>
            <a:ext cx="79080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700"/>
              <a:buFont typeface="Montserrat"/>
              <a:buNone/>
              <a:defRPr sz="1700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9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41" name="Google Shape;41;p9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/>
          </p:nvPr>
        </p:nvSpPr>
        <p:spPr>
          <a:xfrm>
            <a:off x="617125" y="630521"/>
            <a:ext cx="7700400" cy="5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2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2" name="Google Shape;52;p12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2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2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" name="Google Shape;55;p12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58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70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031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5947275" y="1456200"/>
            <a:ext cx="2615100" cy="223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1436158" y="644281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1436158" y="927745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3"/>
          </p:nvPr>
        </p:nvSpPr>
        <p:spPr>
          <a:xfrm>
            <a:off x="1436158" y="172327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subTitle" idx="4"/>
          </p:nvPr>
        </p:nvSpPr>
        <p:spPr>
          <a:xfrm>
            <a:off x="1436158" y="2006737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5"/>
          </p:nvPr>
        </p:nvSpPr>
        <p:spPr>
          <a:xfrm>
            <a:off x="1436158" y="2802265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6"/>
          </p:nvPr>
        </p:nvSpPr>
        <p:spPr>
          <a:xfrm>
            <a:off x="1436158" y="3085729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7"/>
          </p:nvPr>
        </p:nvSpPr>
        <p:spPr>
          <a:xfrm>
            <a:off x="1436158" y="3881257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8"/>
          </p:nvPr>
        </p:nvSpPr>
        <p:spPr>
          <a:xfrm>
            <a:off x="1436158" y="4164721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9" hasCustomPrompt="1"/>
          </p:nvPr>
        </p:nvSpPr>
        <p:spPr>
          <a:xfrm>
            <a:off x="840641" y="779564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 idx="13" hasCustomPrompt="1"/>
          </p:nvPr>
        </p:nvSpPr>
        <p:spPr>
          <a:xfrm>
            <a:off x="840641" y="185855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 idx="14" hasCustomPrompt="1"/>
          </p:nvPr>
        </p:nvSpPr>
        <p:spPr>
          <a:xfrm>
            <a:off x="840641" y="293754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 idx="15" hasCustomPrompt="1"/>
          </p:nvPr>
        </p:nvSpPr>
        <p:spPr>
          <a:xfrm>
            <a:off x="840641" y="401654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630525" y="633475"/>
            <a:ext cx="7070100" cy="5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1"/>
          </p:nvPr>
        </p:nvSpPr>
        <p:spPr>
          <a:xfrm>
            <a:off x="3694176" y="160908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2"/>
          </p:nvPr>
        </p:nvSpPr>
        <p:spPr>
          <a:xfrm>
            <a:off x="1024128" y="160908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ubTitle" idx="3"/>
          </p:nvPr>
        </p:nvSpPr>
        <p:spPr>
          <a:xfrm>
            <a:off x="6355080" y="160908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643100" y="643600"/>
            <a:ext cx="76476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1718550" y="522150"/>
            <a:ext cx="57069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2"/>
          </p:nvPr>
        </p:nvSpPr>
        <p:spPr>
          <a:xfrm>
            <a:off x="3753615" y="241987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5"/>
          </p:nvPr>
        </p:nvSpPr>
        <p:spPr>
          <a:xfrm>
            <a:off x="3753615" y="2775893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1815150" y="518140"/>
            <a:ext cx="55137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ubTitle" idx="1"/>
          </p:nvPr>
        </p:nvSpPr>
        <p:spPr>
          <a:xfrm>
            <a:off x="1522425" y="1874369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2"/>
          </p:nvPr>
        </p:nvSpPr>
        <p:spPr>
          <a:xfrm>
            <a:off x="1522425" y="2214202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ubTitle" idx="3"/>
          </p:nvPr>
        </p:nvSpPr>
        <p:spPr>
          <a:xfrm>
            <a:off x="3689552" y="1874369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4"/>
          </p:nvPr>
        </p:nvSpPr>
        <p:spPr>
          <a:xfrm>
            <a:off x="3689552" y="2214202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ubTitle" idx="5"/>
          </p:nvPr>
        </p:nvSpPr>
        <p:spPr>
          <a:xfrm>
            <a:off x="5856675" y="1874369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6"/>
          </p:nvPr>
        </p:nvSpPr>
        <p:spPr>
          <a:xfrm>
            <a:off x="5856675" y="2214202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subTitle" idx="7"/>
          </p:nvPr>
        </p:nvSpPr>
        <p:spPr>
          <a:xfrm>
            <a:off x="1522425" y="3501991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8"/>
          </p:nvPr>
        </p:nvSpPr>
        <p:spPr>
          <a:xfrm>
            <a:off x="1522425" y="3842050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subTitle" idx="9"/>
          </p:nvPr>
        </p:nvSpPr>
        <p:spPr>
          <a:xfrm>
            <a:off x="3597450" y="3501994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subTitle" idx="13"/>
          </p:nvPr>
        </p:nvSpPr>
        <p:spPr>
          <a:xfrm>
            <a:off x="3597500" y="3842050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subTitle" idx="14"/>
          </p:nvPr>
        </p:nvSpPr>
        <p:spPr>
          <a:xfrm>
            <a:off x="5856675" y="3501991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subTitle" idx="15"/>
          </p:nvPr>
        </p:nvSpPr>
        <p:spPr>
          <a:xfrm>
            <a:off x="5856675" y="3842050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1006350" y="338325"/>
            <a:ext cx="75036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1"/>
          </p:nvPr>
        </p:nvSpPr>
        <p:spPr>
          <a:xfrm>
            <a:off x="1006350" y="1538125"/>
            <a:ext cx="4533300" cy="6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99700" rIns="99700" bIns="99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2"/>
          </p:nvPr>
        </p:nvSpPr>
        <p:spPr>
          <a:xfrm>
            <a:off x="1006350" y="2212188"/>
            <a:ext cx="42324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99700" rIns="99700" bIns="99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36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29" name="Google Shape;129;p22"/>
          <p:cNvGrpSpPr/>
          <p:nvPr/>
        </p:nvGrpSpPr>
        <p:grpSpPr>
          <a:xfrm>
            <a:off x="123247" y="263128"/>
            <a:ext cx="8774345" cy="4085918"/>
            <a:chOff x="261711" y="-1158"/>
            <a:chExt cx="8550326" cy="3981600"/>
          </a:xfrm>
        </p:grpSpPr>
        <p:cxnSp>
          <p:nvCxnSpPr>
            <p:cNvPr id="130" name="Google Shape;130;p22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7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p22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7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2" name="Google Shape;132;p22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33" name="Google Shape;133;p2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" name="Google Shape;137;p22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38" name="Google Shape;138;p2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" name="Google Shape;142;p22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3" name="Google Shape;143;p2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3850" tIns="93850" rIns="93850" bIns="938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" name="Google Shape;149;p22"/>
          <p:cNvSpPr txBox="1">
            <a:spLocks noGrp="1"/>
          </p:cNvSpPr>
          <p:nvPr>
            <p:ph type="subTitle" idx="3"/>
          </p:nvPr>
        </p:nvSpPr>
        <p:spPr>
          <a:xfrm>
            <a:off x="1006350" y="2927805"/>
            <a:ext cx="4533300" cy="624600"/>
          </a:xfrm>
          <a:prstGeom prst="rect">
            <a:avLst/>
          </a:prstGeom>
        </p:spPr>
        <p:txBody>
          <a:bodyPr spcFirstLastPara="1" wrap="square" lIns="99700" tIns="99700" rIns="99700" bIns="99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63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subTitle" idx="4"/>
          </p:nvPr>
        </p:nvSpPr>
        <p:spPr>
          <a:xfrm>
            <a:off x="1006350" y="3601868"/>
            <a:ext cx="42324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99700" rIns="99700" bIns="99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36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745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>
            <a:spLocks noGrp="1"/>
          </p:cNvSpPr>
          <p:nvPr>
            <p:ph type="title"/>
          </p:nvPr>
        </p:nvSpPr>
        <p:spPr>
          <a:xfrm>
            <a:off x="431725" y="342775"/>
            <a:ext cx="65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3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55" name="Google Shape;155;p23"/>
          <p:cNvSpPr txBox="1">
            <a:spLocks noGrp="1"/>
          </p:cNvSpPr>
          <p:nvPr>
            <p:ph type="subTitle" idx="3"/>
          </p:nvPr>
        </p:nvSpPr>
        <p:spPr>
          <a:xfrm>
            <a:off x="1075800" y="2069375"/>
            <a:ext cx="2426400" cy="5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56" name="Google Shape;156;p23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714655" y="338325"/>
            <a:ext cx="5905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Medium"/>
              <a:buAutoNum type="arabicPeriod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lpha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roman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rabi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lpha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roman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rabi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alpha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Montserrat Light"/>
              <a:buAutoNum type="romanLcPeriod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10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6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8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69" name="Google Shape;169;p2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32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77" name="Google Shape;177;p32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2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32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3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33"/>
          <p:cNvSpPr txBox="1">
            <a:spLocks noGrp="1"/>
          </p:cNvSpPr>
          <p:nvPr>
            <p:ph type="body" idx="2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234F-C48F-F142-99B3-8531954F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3821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B234F-C48F-F142-99B3-8531954F8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79E75-297C-F04A-8895-A59A5E460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3456B-A3C1-8242-B41F-61F0A3569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41492-8ECA-404E-A995-235085120F84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90978-A1FD-2F40-B321-62EFD0286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224B8-9E24-E64E-B312-95A9AD752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D65D5-ACFA-BC43-8598-6F5DE50C03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7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jp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3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10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03C46"/>
              </a:buClr>
              <a:buSzPts val="3100"/>
              <a:buFont typeface="Montserrat SemiBold"/>
              <a:buNone/>
              <a:defRPr sz="3100">
                <a:solidFill>
                  <a:srgbClr val="103C46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84" r:id="rId10"/>
    <p:sldLayoutId id="2147483685" r:id="rId11"/>
    <p:sldLayoutId id="2147483686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3" r:id="rId32"/>
    <p:sldLayoutId id="2147483687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>
            <a:spLocks noGrp="1"/>
          </p:cNvSpPr>
          <p:nvPr>
            <p:ph type="ctrTitle"/>
          </p:nvPr>
        </p:nvSpPr>
        <p:spPr>
          <a:xfrm>
            <a:off x="854275" y="496375"/>
            <a:ext cx="7369500" cy="2764200"/>
          </a:xfrm>
          <a:prstGeom prst="rect">
            <a:avLst/>
          </a:prstGeom>
        </p:spPr>
        <p:txBody>
          <a:bodyPr spcFirstLastPara="1" wrap="square" lIns="108175" tIns="108175" rIns="108175" bIns="1081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103C46"/>
                </a:solidFill>
              </a:rPr>
              <a:t>Consumer</a:t>
            </a:r>
            <a:r>
              <a:rPr lang="en-US" sz="4800" dirty="0"/>
              <a:t> </a:t>
            </a:r>
            <a:r>
              <a:rPr lang="en-US" sz="4800" dirty="0">
                <a:solidFill>
                  <a:srgbClr val="103C46"/>
                </a:solidFill>
              </a:rPr>
              <a:t>Decision-Making Analysis in R</a:t>
            </a:r>
          </a:p>
        </p:txBody>
      </p:sp>
      <p:sp>
        <p:nvSpPr>
          <p:cNvPr id="194" name="Google Shape;194;p36"/>
          <p:cNvSpPr txBox="1">
            <a:spLocks noGrp="1"/>
          </p:cNvSpPr>
          <p:nvPr>
            <p:ph type="subTitle" idx="1"/>
          </p:nvPr>
        </p:nvSpPr>
        <p:spPr>
          <a:xfrm>
            <a:off x="854276" y="3185525"/>
            <a:ext cx="6750900" cy="896100"/>
          </a:xfrm>
          <a:prstGeom prst="rect">
            <a:avLst/>
          </a:prstGeom>
        </p:spPr>
        <p:txBody>
          <a:bodyPr spcFirstLastPara="1" wrap="square" lIns="108175" tIns="108175" rIns="108175" bIns="10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1" dirty="0">
                <a:solidFill>
                  <a:schemeClr val="accent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Reproducible, Collaborative, and AI-Aware Workflows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>
            <a:spLocks noGrp="1"/>
          </p:cNvSpPr>
          <p:nvPr>
            <p:ph type="subTitle" idx="1"/>
          </p:nvPr>
        </p:nvSpPr>
        <p:spPr>
          <a:xfrm>
            <a:off x="1037100" y="1519363"/>
            <a:ext cx="8106900" cy="32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31800" lvl="0" indent="-3429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Wingdings" pitchFamily="2" charset="2"/>
              <a:buChar char="q"/>
            </a:pPr>
            <a:r>
              <a:rPr lang="en" sz="2300" dirty="0"/>
              <a:t>Day 1: The scaffold </a:t>
            </a:r>
            <a:endParaRPr sz="2300" dirty="0"/>
          </a:p>
          <a:p>
            <a:pPr marL="4318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pitchFamily="2" charset="2"/>
              <a:buChar char="q"/>
            </a:pPr>
            <a:r>
              <a:rPr lang="en" sz="2300" dirty="0"/>
              <a:t>Day 2: R and data analysis</a:t>
            </a:r>
            <a:endParaRPr sz="2300" dirty="0"/>
          </a:p>
          <a:p>
            <a:pPr marL="4318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Wingdings" pitchFamily="2" charset="2"/>
              <a:buChar char="q"/>
            </a:pPr>
            <a:r>
              <a:rPr lang="en" sz="2300" dirty="0"/>
              <a:t>Day 3: Producing a report + Supercharge</a:t>
            </a:r>
            <a:endParaRPr sz="2300" dirty="0"/>
          </a:p>
        </p:txBody>
      </p:sp>
      <p:sp>
        <p:nvSpPr>
          <p:cNvPr id="200" name="Google Shape;200;p37"/>
          <p:cNvSpPr txBox="1">
            <a:spLocks noGrp="1"/>
          </p:cNvSpPr>
          <p:nvPr>
            <p:ph type="title"/>
          </p:nvPr>
        </p:nvSpPr>
        <p:spPr>
          <a:xfrm>
            <a:off x="523000" y="516550"/>
            <a:ext cx="7908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subTitle" idx="2"/>
          </p:nvPr>
        </p:nvSpPr>
        <p:spPr>
          <a:xfrm>
            <a:off x="523000" y="943363"/>
            <a:ext cx="7908000" cy="2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the workshop</a:t>
            </a:r>
            <a:endParaRPr/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5AB22936-4FB6-83A9-D182-6937A457F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070" y="2111080"/>
            <a:ext cx="133248" cy="133248"/>
          </a:xfrm>
          <a:prstGeom prst="rect">
            <a:avLst/>
          </a:prstGeom>
        </p:spPr>
      </p:pic>
      <p:pic>
        <p:nvPicPr>
          <p:cNvPr id="2" name="Graphic 1" descr="Checkmark with solid fill">
            <a:extLst>
              <a:ext uri="{FF2B5EF4-FFF2-40B4-BE49-F238E27FC236}">
                <a16:creationId xmlns:a16="http://schemas.microsoft.com/office/drawing/2014/main" id="{BB71CA97-BBF9-AA99-1392-33EF4FBEE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1070" y="2810151"/>
            <a:ext cx="133248" cy="133248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title"/>
          </p:nvPr>
        </p:nvSpPr>
        <p:spPr>
          <a:xfrm>
            <a:off x="1718550" y="431118"/>
            <a:ext cx="57069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The three-day roadmap</a:t>
            </a:r>
            <a:endParaRPr dirty="0"/>
          </a:p>
        </p:txBody>
      </p:sp>
      <p:sp>
        <p:nvSpPr>
          <p:cNvPr id="214" name="Google Shape;214;p39"/>
          <p:cNvSpPr txBox="1">
            <a:spLocks noGrp="1"/>
          </p:cNvSpPr>
          <p:nvPr>
            <p:ph type="subTitle" idx="3"/>
          </p:nvPr>
        </p:nvSpPr>
        <p:spPr>
          <a:xfrm>
            <a:off x="677638" y="1456315"/>
            <a:ext cx="2613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Day 1: Scaffold</a:t>
            </a: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6"/>
          </p:nvPr>
        </p:nvSpPr>
        <p:spPr>
          <a:xfrm>
            <a:off x="677638" y="1954665"/>
            <a:ext cx="2613000" cy="20374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</a:t>
            </a:r>
            <a:r>
              <a:rPr lang="en-GB" dirty="0"/>
              <a:t>s</a:t>
            </a:r>
            <a:r>
              <a:rPr lang="en" dirty="0" err="1"/>
              <a:t>tudio</a:t>
            </a:r>
            <a:endParaRPr lang="en" dirty="0"/>
          </a:p>
          <a:p>
            <a:pPr marL="457200" indent="-317500" algn="l">
              <a:lnSpc>
                <a:spcPct val="115000"/>
              </a:lnSpc>
              <a:buSzPts val="1400"/>
              <a:buFont typeface="Arial"/>
              <a:buChar char="●"/>
            </a:pPr>
            <a:r>
              <a:rPr lang="en-GB" dirty="0"/>
              <a:t>Git/GitHub basics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Folders</a:t>
            </a:r>
            <a:endParaRPr dirty="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Data protection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Quarto</a:t>
            </a:r>
            <a:endParaRPr dirty="0"/>
          </a:p>
        </p:txBody>
      </p:sp>
      <p:sp>
        <p:nvSpPr>
          <p:cNvPr id="216" name="Google Shape;216;p39"/>
          <p:cNvSpPr txBox="1">
            <a:spLocks noGrp="1"/>
          </p:cNvSpPr>
          <p:nvPr>
            <p:ph type="subTitle" idx="3"/>
          </p:nvPr>
        </p:nvSpPr>
        <p:spPr>
          <a:xfrm>
            <a:off x="3445880" y="1456315"/>
            <a:ext cx="26130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Day 2: Analyse </a:t>
            </a:r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subTitle" idx="6"/>
          </p:nvPr>
        </p:nvSpPr>
        <p:spPr>
          <a:xfrm>
            <a:off x="3445880" y="1954665"/>
            <a:ext cx="2613000" cy="26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Base R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Import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Clean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Transform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Visualise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Describe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Model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Moderate / mediate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Collaborate</a:t>
            </a:r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ubTitle" idx="3"/>
          </p:nvPr>
        </p:nvSpPr>
        <p:spPr>
          <a:xfrm>
            <a:off x="6214123" y="1456315"/>
            <a:ext cx="2613000" cy="6570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Day 3: Publish</a:t>
            </a:r>
            <a:endParaRPr dirty="0"/>
          </a:p>
        </p:txBody>
      </p:sp>
      <p:sp>
        <p:nvSpPr>
          <p:cNvPr id="219" name="Google Shape;219;p39"/>
          <p:cNvSpPr txBox="1">
            <a:spLocks noGrp="1"/>
          </p:cNvSpPr>
          <p:nvPr>
            <p:ph type="subTitle" idx="6"/>
          </p:nvPr>
        </p:nvSpPr>
        <p:spPr>
          <a:xfrm>
            <a:off x="6214123" y="1954665"/>
            <a:ext cx="26130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Export tables and figures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Write methods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Write results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Static/ Annotated/ interactive report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AI-use statement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Reproducibility check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9E859B-C973-BB82-FAC6-2E562233FFD5}"/>
              </a:ext>
            </a:extLst>
          </p:cNvPr>
          <p:cNvSpPr/>
          <p:nvPr/>
        </p:nvSpPr>
        <p:spPr>
          <a:xfrm>
            <a:off x="677638" y="1640332"/>
            <a:ext cx="2286279" cy="2341992"/>
          </a:xfrm>
          <a:prstGeom prst="rect">
            <a:avLst/>
          </a:prstGeom>
          <a:gradFill flip="none" rotWithShape="1">
            <a:gsLst>
              <a:gs pos="0">
                <a:srgbClr val="F4FBFB">
                  <a:alpha val="57873"/>
                </a:srgbClr>
              </a:gs>
              <a:gs pos="100000">
                <a:srgbClr val="ECF5F6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38F364-4573-8FD0-953C-A8A381C799AD}"/>
              </a:ext>
            </a:extLst>
          </p:cNvPr>
          <p:cNvSpPr/>
          <p:nvPr/>
        </p:nvSpPr>
        <p:spPr>
          <a:xfrm>
            <a:off x="3290637" y="1559928"/>
            <a:ext cx="2613000" cy="3152454"/>
          </a:xfrm>
          <a:prstGeom prst="rect">
            <a:avLst/>
          </a:prstGeom>
          <a:gradFill flip="none" rotWithShape="1">
            <a:gsLst>
              <a:gs pos="0">
                <a:srgbClr val="F4FBFB">
                  <a:alpha val="58000"/>
                </a:srgbClr>
              </a:gs>
              <a:gs pos="99000">
                <a:srgbClr val="EBF4F5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8152A-AE65-45AA-5897-87443C5B2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EBD6-6FED-2959-F04D-EE1FCE5F4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592" y="2306990"/>
            <a:ext cx="3325872" cy="804600"/>
          </a:xfrm>
        </p:spPr>
        <p:txBody>
          <a:bodyPr/>
          <a:lstStyle/>
          <a:p>
            <a:r>
              <a:rPr lang="en-US" dirty="0"/>
              <a:t>The Report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375524-0E42-28C1-140B-8138880E71B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747975" y="1415777"/>
            <a:ext cx="3648050" cy="1069800"/>
          </a:xfrm>
        </p:spPr>
        <p:txBody>
          <a:bodyPr/>
          <a:lstStyle/>
          <a:p>
            <a:r>
              <a:rPr lang="en-US" dirty="0"/>
              <a:t>Day 3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4AB1DB8-EF71-9D4C-4F8C-D242170DD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064" y="3049486"/>
            <a:ext cx="3200400" cy="685800"/>
          </a:xfrm>
        </p:spPr>
        <p:txBody>
          <a:bodyPr/>
          <a:lstStyle/>
          <a:p>
            <a:r>
              <a:rPr lang="en-US" dirty="0"/>
              <a:t>Efficient Ins and Outs</a:t>
            </a:r>
          </a:p>
        </p:txBody>
      </p:sp>
    </p:spTree>
    <p:extLst>
      <p:ext uri="{BB962C8B-B14F-4D97-AF65-F5344CB8AC3E}">
        <p14:creationId xmlns:p14="http://schemas.microsoft.com/office/powerpoint/2010/main" val="1620207248"/>
      </p:ext>
    </p:extLst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B2FF288-F7D4-CA51-8950-77085B323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Day Three Slides follow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2528B3-306F-5178-3CE2-E67F94E4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7F0F13F-E8D0-3189-15C5-39CC37544571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99254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three years, "AI" went from autocomplete to colleague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The rise of LLMs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   Autocomplete that finished your sentence.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   ChatGPT — a chatbot that could write and explain code.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  Assistants that read your whole project and edit files for you.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  You describe what you want; the model does the typing.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researcher this means: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explain an error message in plain language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turn a research question into a first analysis script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refactor messy code, write the comments, draft the README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 your repo and answer "where is X done?"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Large Language Model is a next-word predictor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The rise of LLMs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LLM is trained by reading an enormous amount of text: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books · Wikipedia · websites · documentation · and a LOT of source code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Its one job during training: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 some text, then guess the next "token" (≈ the next word or word-piece).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wrong → adjust. Repeat billions of times.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That's it. There is no database of answers inside it.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learned the patterns of language, reasoning, and code.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79171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7917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does not "look things up." It predicts what comes next, one token at a time.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 it think one token at a time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The rise of LLMs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  "The capital of France is ___"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   Paris            (99% — it has seen this pattern endlessly)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  "library(tidyverse)\n consumer_data &lt;- read_  ___"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   csv(            (it learned how R code usually continues)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   "purchase_intention ~ condition + ___"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   price_sensitivity   (a plausible predictor — but IS it in your data?)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95472"/>
            <a:ext cx="8229600" cy="41757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502920" y="3395472"/>
            <a:ext cx="50292" cy="41757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85800" y="3505200"/>
            <a:ext cx="7936992" cy="198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answer is just: "given everything so far, what token is most likely next?"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Strengths and traps, on one slide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The rise of LLMs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60629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60629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386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Genuinely good at:               Will confidently get wrong: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boilerplate &amp; syntax           - your specific data &amp; column names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explaining code/errors         - exact statistics it didn't compute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common R / tidyverse patterns  - citations and package details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translating ideas → first draft- anything it never saw in training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 for almost every trap: give it CONTEXT, and VERIFY the output.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Everything that makes a repo reproducible also makes AI safe &amp; useful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Why this repo is built for AI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01193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01193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792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Open-source tools     →  the model has seen millions of examples like yours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Explicit structure    →  the repo IS the context the model needs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Git version control   →  you see exactly what the AI changed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Branches              →  let the AI try things without risking your work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R, Quarto, and Git are all over the training data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Why this repo is built for AI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60629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60629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386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was trained on huge amounts of public, open-source code: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· tidyverse · ggplot2 · Quarto · Git · Markdown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it is genuinely fluent in the exact tools this workshop uses.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Closed, niche, or in-house tools → far less training data → weaker help.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Open, popular, well-documented tools → strong, idiomatic help.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19735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1973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Choosing open, standard tools isn't just reproducible — it's AI-friendly.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repo answers the model's questions before it asks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Why this repo is built for AI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vague prompt:                      A repo-grounded prompt: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"write me a moderation analysis"     "following R/functions/analysis.R, add a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generic code, wrong variable        moderation of purchase_intention by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names, won't run                     condition × price_sensitivity"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repo supplies the missing context for free: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R/functions/      how we write functions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reports/*.qmd     how we report results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data/mock/        the real column names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README.md         what the project is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Trust, but verify — the diff is your receipt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Why this repo is built for AI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AI edits three files. Before you keep anything: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status          which files did it touch?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 diff            line by line — what exactly changed?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green = added   red = removed   →  read it like a code review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Don't like it?   git restore &lt;file&gt;     (undo, instantly)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9547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3954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never have to guess what the AI did. Version control makes it visible.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Give the AI a sandbox, keep `main` clean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Why this repo is built for AI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40817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40817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                 your stable, working project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ai-moderation    "let the assistant try the moderation analysis here"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it works → review the diff → merge into main.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it's a mess → delete the branch. main never knew.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8229600" cy="8138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502920" y="2999232"/>
            <a:ext cx="50292" cy="8138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793699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ai-moderation     # a throwaway branch for the experiment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let the AI work, review, test ...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                 # back to safety, with or without the work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second editor — the one the AI tools live in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VS Code · the AI-ready editor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RStudio is still your home for learning R.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is the editor most AI coding tools plug into: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Continue, GitHub Copilot, Cline, Claude, Codex … all run here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first-class Git panel, terminal, and Quarto support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one editor for R + Python + Markdown + everything else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Today: install it, learn where things are, and connect an AI assistant.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project, different cockpit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VS Code · the AI-ready editor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RStudio                          VS Code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    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 pane (bottom right)        Explorer        (sidebar, top icon)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/ script editor           Editor          (centre — same thing)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                          Terminal        (View ▸ Terminal) + R console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 pane                 (no built-in — use the R extension / Console)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tab (top right)              Source Control  (sidebar, branch icon)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 / Plots / Help          Extensions add these (R extension, Quarto)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.Rproj                      Open the FOLDER, or the .code-workspace file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▸ Render                   Quarto extension: Render button / preview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79171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7917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Everything you know from RStudio exists in VS Code — just in a different panel.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— get VS Code running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VS Code · the AI-ready editor   ·   Exercise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Go to   https://code.visualstudio.com   → Download for your OS.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Install and open it.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File ▸ Open Folder…  → open your forked the-science-repository.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(or double-click the-science-repository.code-workspace)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Find these in the left sidebar: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Explorer    (the file tree — your folders)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Source Control (the Git panel)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Extensions  (the puzzle-piece icon — next slide)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95472"/>
            <a:ext cx="8229600" cy="835152"/>
          </a:xfrm>
          <a:prstGeom prst="rect">
            <a:avLst/>
          </a:prstGeom>
          <a:solidFill>
            <a:srgbClr val="E4F1E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502920" y="3395472"/>
            <a:ext cx="50292" cy="83515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85800" y="3450336"/>
            <a:ext cx="7936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651504"/>
            <a:ext cx="7936992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you see R/, reports/, and data/ in the Explorer?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the Source Control panel show your repo's branch?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VS Code into an R + Quarto + AI workbench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VS Code · the AI-ready editor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the Extensions panel (puzzle icon) and install: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          (REditorSupport)   run R, syntax, data viewer, plots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Quarto      (Quarto)           render &amp; preview .qmd, just like RStudio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Continue    (Continue.dev)     plug in a LOCAL or cloud model  → next section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GitHub Copilot (GitHub)        inline suggestions; has a FREE tier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Git/Source Control is already built in — nothing to install.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9547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3954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+ Quarto give you the workflow; Continue + Copilot add the AI.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one rule that makes all of this safe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Security · keep your data yours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AI assistant can only help with what it can SEE.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That's also the risk: confidential data must stay out of its view.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recurring question (Day 3 version):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"What is safe to commit, share, upload to Overleaf, or paste into an AI tool?"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            usually yes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Raw data           no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Outputs            only if no one can be identified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Confidential data  never into external AI tools without approval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the repo with private data hidden from the editor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Security · keep your data yours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the-science-repository.code-workspace        → normal working view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the-science-repository.llm.code-workspace     → LLM-safe view  ← use with AI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.llm workspace hides the private folders from the editor entirely: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"files.exclude":  { "data/raw": true, "data/processed": true }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"search.exclude": { "data/raw": true, "data/processed": true }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Editor-integrated assistants (Continue, Copilot, Cursor) can't suggest, search,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read what the editor doesn't show. data/mock/ stays visible — safe to use.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repo refuses to let the assistant read raw data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Security · keep your data yours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39877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39877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2179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.claude/settings.json  hard-blocks AI tools from your private data: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"permissions": {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"deny": [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"Read(./data/raw/**)",   "Read(./data/processed/**)",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"Glob(./data/raw/**)",   "Grep(./data/raw/**)",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"Bash(cat ./data/raw/*)", "Bash(head ./data/raw/*)"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 if you ASK the assistant to open a raw file, it is refused.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98983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98983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Hiding (workspace) + blocking (.claude) = two independent seatbelts.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 you control vs a chat window you paste into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Security · keep your data yours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 (inside the repo / editor):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VS Code workspace hides data/raw &amp; data/processed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.claude rules block reads of those folders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.gitignore keeps them out of Git in the first place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enforced (no technical guardrail):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✗ copy-pasting data into chatgpt.com or claude.ai in your browser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✗ uploading a file to a web tool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there, the only safeguard is YOU. Don't paste raw or identifiable data.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Hugging Face, LM Studio, Continue — what each is for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Your first local LLM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00253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00253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 Face   huggingface.co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"app store" for open models — where models are published &amp; downloaded.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LM Studio      lmstudio.ai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friendly desktop app: search a model, download it, chat with it.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Runs 100% on your laptop — nothing leaves the machine.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       continue.dev  (the VS Code extension from before)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connects that local model INTO your editor, next to your code.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9359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59359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LM Studio = chat with a local model. Continue = put it next to your code.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tiny — you can always go bigger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Your first local LLM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/ modest laptop, just to see it work: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Qwen2.5-0.5B-Instruct        ~0.4 GB   runs almost anywhere, even CPU-only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Llama-3.2-1B-Instruct        ~1 GB     a small step up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bit more RAM (≈8 GB free):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Llama-3.2-3B / Gemma-2-2B    ~2–3 GB   noticeably more capable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LM Studio: pick a "GGUF" build, prefer a "Q4" quantisation (smaller, faster).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95472"/>
            <a:ext cx="8229600" cy="61569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502920" y="3395472"/>
            <a:ext cx="50292" cy="61569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85800" y="3505200"/>
            <a:ext cx="7936992" cy="39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even the tiny model is too slow → that's expected, and the point of the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section: heavy lifting goes to a frontier model in the cloud.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— your first local "hello world"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Your first local LLM   ·   Exercise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Download LM Studio from  https://lmstudio.ai  and open it.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Search for  Qwen2.5-0.5B-Instruct  → download the Q4 GGUF build.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Load the model (top bar) and open the chat.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Type your hello-world prompt: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"In one sentence, explain what an RStudio Project is to a beginner."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Watch tokens appear one at a time — that's next-word prediction, live.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95472"/>
            <a:ext cx="8229600" cy="1033272"/>
          </a:xfrm>
          <a:prstGeom prst="rect">
            <a:avLst/>
          </a:prstGeom>
          <a:solidFill>
            <a:srgbClr val="E4F1E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502920" y="3395472"/>
            <a:ext cx="50292" cy="103327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85800" y="3450336"/>
            <a:ext cx="7936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651504"/>
            <a:ext cx="7936992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 a sentence back? You just ran an LLM entirely on your own machine. 🎉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 slow or won't load? Pair up with a neighbour, or skip to frontier models —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concept is what matters, not the horsepower.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tools for two jobs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Your first local LLM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00253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00253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model (LM Studio / Continue)        Cloud frontier model (Claude / Codex)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──────────────────────────────────        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private — data never leaves laptop       ✓ far more capable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free, offline, unlimited                  ✓ reads your whole repo, edits files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small &amp; limited on modest hardware        ✗ sends context to a server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no project-wide editing                   ✗ usage limits / may cost money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Sensitive data, quick questions  → local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Heavy lifting on non-sensitive   → frontier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you want real power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Frontier models &amp; prompting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00253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00253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  (Anthropic)   — strong at code, reading large projects, careful reasoning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/ ChatGPT (OpenAI) — strong all-rounders, big ecosystem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These can: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read your entire repo for context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plan a change, edit several files, run code, and fix its own errors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work from a plain-English description of what you want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skill that unlocks them is not coding. It's PROMPTING.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prompt, a whole analysis — done to the repo's standards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Frontier models &amp; prompting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39877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39877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2179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 R/functions/analysis.R and reports/webpage/03-analysis.qmd to learn this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project's conventions. Then, on a new branch: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Add a function to R/functions/analysis.R that runs a moderation of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purchase_intention ~ condition * price_sensitivity. Improve style, output, and run assumption tests.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Add a matching interaction plot to R/functions/plotting.R using our theme.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3. Add a section to reports/webpage/03-analysis.qmd that calls both, shows the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figure, and writes a 3-sentence results paragraph with cautious wording.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 NOT touch anything under data/. Explain to me what you changed."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· Task · Constraints · Review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Frontier models &amp; prompting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     point at real files: "follow R/functions/analysis.R"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        be specific and numbered: what, exactly, in what order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  set the guardrails: "don't touch data/", "work on a branch",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"match our style", "use tidyverse"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      "show me the diff / explain before you change files"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Weak:  "write me a moderation analysis"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Strong: all four boxes above, filled in.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395472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39547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good prompt is a good task brief. Imagine talking to your research assistant. Always be nice!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fastest way to say "read this file"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Frontier models &amp; prompting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VS Code's Explorer: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right-click a file ▸ Copy Relative Path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(macOS: ⌥⌘C)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R/functions/analysis.R     paste straight into your prompt.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use the assistant's own reference: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  in Continue / Copilot / Claude  → pick a file or folder to attach.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the model reads the REAL code, not a guess about it.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multi-step work, write it down first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Frontier models &amp; prompting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00253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00253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anything bigger than one prompt, don't free-style — structure it: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PRD     ask the model to write a short plan first: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prd.md — goal, scope, what "done" looks like, what NOT to do.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TASKS   break the PRD into a checklist: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tasks.md — small, checkable steps, in order.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LOOP    feed it the plan + checklist and let it work through, one task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at a time, ticking each off — re-run it on the list until the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boxes are all green. (the "Wiggum loop": simple, persistent, repeat.)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593592"/>
            <a:ext cx="8229600" cy="819382"/>
          </a:xfrm>
          <a:prstGeom prst="roundRect">
            <a:avLst>
              <a:gd name="adj" fmla="val 9091"/>
            </a:avLst>
          </a:prstGeom>
          <a:solidFill>
            <a:srgbClr val="CDECF1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Text 6"/>
          <p:cNvSpPr/>
          <p:nvPr/>
        </p:nvSpPr>
        <p:spPr>
          <a:xfrm>
            <a:off x="685800" y="3593591"/>
            <a:ext cx="7863840" cy="819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 in plain text, in the repo. The plan is context AND a record of decisions.</a:t>
            </a:r>
          </a:p>
          <a:p>
            <a:pPr marL="0" indent="0" algn="ctr">
              <a:buNone/>
            </a:pPr>
            <a:endParaRPr lang="en-US" i="1" dirty="0">
              <a:solidFill>
                <a:srgbClr val="103C46"/>
              </a:solidFill>
              <a:latin typeface="Montserrat" pitchFamily="34" charset="0"/>
            </a:endParaRPr>
          </a:p>
          <a:p>
            <a:pPr marL="0" indent="0" algn="ctr">
              <a:buNone/>
            </a:pPr>
            <a:r>
              <a:rPr lang="en-US" sz="1400" i="1" dirty="0">
                <a:solidFill>
                  <a:srgbClr val="103C46"/>
                </a:solidFill>
                <a:latin typeface="Montserrat" pitchFamily="34" charset="0"/>
              </a:rPr>
              <a:t>Be open to new developments!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 — your turn to drive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1152144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5849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3 · Frontier models &amp; prompting   ·   Exercise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8229600" cy="220065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50292" cy="220065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7936992" cy="1981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 VS Code, sign in to GitHub Copilot (free tier — no card needed).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Open Copilot Chat. Open this repo (the .llm workspace).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Right-click R/functions/plotting.R ▸ Copy Relative Path.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Write a Context · Task · Constraints · Review prompt, e.g.: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"Read R/functions/plotting.R. Add a function that plots the distribution of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purchase_intention by condition, matching the existing ggplot style. Show me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 code and explain it before changing any file. Don't touch data/."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Read what it gives you. Would it run? Is it in our style? Improve the prompt.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3791712"/>
            <a:ext cx="8229600" cy="835152"/>
          </a:xfrm>
          <a:prstGeom prst="rect">
            <a:avLst/>
          </a:prstGeom>
          <a:solidFill>
            <a:srgbClr val="E4F1EA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8" name="Shape 6"/>
          <p:cNvSpPr/>
          <p:nvPr/>
        </p:nvSpPr>
        <p:spPr>
          <a:xfrm>
            <a:off x="502920" y="3791712"/>
            <a:ext cx="50292" cy="835152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9" name="Text 7"/>
          <p:cNvSpPr/>
          <p:nvPr/>
        </p:nvSpPr>
        <p:spPr>
          <a:xfrm>
            <a:off x="685800" y="3846576"/>
            <a:ext cx="79369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E7D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4047744"/>
            <a:ext cx="7936992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 adding the file path change the quality of the answer?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YOU tell whether the suggestion is correct? (that's the skill that matters)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E96C8-5530-E63B-3CE6-E4879570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2671-14FA-DDEF-29FD-EB3643A82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592" y="2306990"/>
            <a:ext cx="3325872" cy="804600"/>
          </a:xfrm>
        </p:spPr>
        <p:txBody>
          <a:bodyPr/>
          <a:lstStyle/>
          <a:p>
            <a:r>
              <a:rPr lang="en-US" dirty="0"/>
              <a:t>A journey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92BA04-4312-4C71-085B-09D303614887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550780" y="1415777"/>
            <a:ext cx="4042439" cy="1069800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17F5846-2441-06DF-9F62-C232526EC9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9064" y="3049486"/>
            <a:ext cx="3200400" cy="685800"/>
          </a:xfrm>
        </p:spPr>
        <p:txBody>
          <a:bodyPr/>
          <a:lstStyle/>
          <a:p>
            <a:r>
              <a:rPr lang="en-US" dirty="0"/>
              <a:t>What we learned in three days</a:t>
            </a:r>
          </a:p>
        </p:txBody>
      </p:sp>
    </p:spTree>
    <p:extLst>
      <p:ext uri="{BB962C8B-B14F-4D97-AF65-F5344CB8AC3E}">
        <p14:creationId xmlns:p14="http://schemas.microsoft.com/office/powerpoint/2010/main" val="5532163"/>
      </p:ext>
    </p:extLst>
  </p:cSld>
  <p:clrMapOvr>
    <a:masterClrMapping/>
  </p:clrMapOvr>
  <p:transition spd="slow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D096C-C44F-2EBE-8039-63EA8CF2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2485577"/>
            <a:ext cx="3200400" cy="804600"/>
          </a:xfrm>
        </p:spPr>
        <p:txBody>
          <a:bodyPr/>
          <a:lstStyle/>
          <a:p>
            <a:r>
              <a:rPr lang="en-US" dirty="0"/>
              <a:t>The Repository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35B14D-543B-038A-00A0-EDB77C235D35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2739000" y="1501950"/>
            <a:ext cx="3433200" cy="1069800"/>
          </a:xfrm>
        </p:spPr>
        <p:txBody>
          <a:bodyPr/>
          <a:lstStyle/>
          <a:p>
            <a:r>
              <a:rPr lang="en-US" dirty="0"/>
              <a:t>Day 1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F233557-F8EA-E529-D3FC-4ADE2B4F9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903" y="3035736"/>
            <a:ext cx="3200400" cy="685800"/>
          </a:xfrm>
        </p:spPr>
        <p:txBody>
          <a:bodyPr/>
          <a:lstStyle/>
          <a:p>
            <a:r>
              <a:rPr lang="en-US" dirty="0"/>
              <a:t>What, where, why?</a:t>
            </a:r>
          </a:p>
        </p:txBody>
      </p:sp>
    </p:spTree>
    <p:extLst>
      <p:ext uri="{BB962C8B-B14F-4D97-AF65-F5344CB8AC3E}">
        <p14:creationId xmlns:p14="http://schemas.microsoft.com/office/powerpoint/2010/main" val="127801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51C84-F60B-050D-7B77-31802F5C9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52"/>
            <a:ext cx="9145875" cy="51424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08A949-9B2B-8CCF-1428-D359C0EF5DE5}"/>
              </a:ext>
            </a:extLst>
          </p:cNvPr>
          <p:cNvSpPr txBox="1"/>
          <p:nvPr/>
        </p:nvSpPr>
        <p:spPr>
          <a:xfrm>
            <a:off x="134754" y="9625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400" b="1" i="0">
                <a:solidFill>
                  <a:schemeClr val="tx2">
                    <a:lumMod val="10000"/>
                  </a:schemeClr>
                </a:solidFill>
                <a:effectLst/>
                <a:latin typeface="Courier New" panose="02070309020205020404" pitchFamily="49" charset="0"/>
              </a:rPr>
              <a:t>the-science-repository/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896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03C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 you leave today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1125177" y="1387780"/>
            <a:ext cx="7040880" cy="1804416"/>
          </a:xfrm>
          <a:prstGeom prst="rect">
            <a:avLst/>
          </a:prstGeom>
          <a:solidFill>
            <a:srgbClr val="EAF3F5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5" name="Shape 3"/>
          <p:cNvSpPr/>
          <p:nvPr/>
        </p:nvSpPr>
        <p:spPr>
          <a:xfrm>
            <a:off x="1125177" y="1387780"/>
            <a:ext cx="50292" cy="1804416"/>
          </a:xfrm>
          <a:prstGeom prst="rect">
            <a:avLst/>
          </a:prstGeom>
          <a:solidFill>
            <a:srgbClr val="258497"/>
          </a:solidFill>
          <a:ln/>
        </p:spPr>
        <p:txBody>
          <a:bodyPr/>
          <a:lstStyle/>
          <a:p>
            <a:endParaRPr lang="en-NL"/>
          </a:p>
        </p:txBody>
      </p:sp>
      <p:sp>
        <p:nvSpPr>
          <p:cNvPr id="6" name="Text 4"/>
          <p:cNvSpPr/>
          <p:nvPr/>
        </p:nvSpPr>
        <p:spPr>
          <a:xfrm>
            <a:off x="1308057" y="1445441"/>
            <a:ext cx="685800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GitHub account created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Repository forked to your account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GitHub Pages on → your website loads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First commit made (README link points to your site)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 and RStudio installed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Fork cloned and opened via the .Rproj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renv::restore() finished successfully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63C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quarto render reports/webpage works locally</a:t>
            </a:r>
            <a:endParaRPr lang="en-US" sz="1200" dirty="0"/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D3B0E063-ABC9-5B79-DE1D-B28F1319B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2712" y="1523845"/>
            <a:ext cx="154143" cy="154143"/>
          </a:xfrm>
          <a:prstGeom prst="rect">
            <a:avLst/>
          </a:prstGeom>
        </p:spPr>
      </p:pic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B41E1A54-4B62-C8E7-14D5-3685F6A96A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525" y="1730836"/>
            <a:ext cx="154143" cy="154143"/>
          </a:xfrm>
          <a:prstGeom prst="rect">
            <a:avLst/>
          </a:prstGeom>
        </p:spPr>
      </p:pic>
      <p:pic>
        <p:nvPicPr>
          <p:cNvPr id="10" name="Graphic 9" descr="Checkmark with solid fill">
            <a:extLst>
              <a:ext uri="{FF2B5EF4-FFF2-40B4-BE49-F238E27FC236}">
                <a16:creationId xmlns:a16="http://schemas.microsoft.com/office/drawing/2014/main" id="{5F82D08C-AC91-705C-2650-07A88414AB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524" y="1937827"/>
            <a:ext cx="154143" cy="154143"/>
          </a:xfrm>
          <a:prstGeom prst="rect">
            <a:avLst/>
          </a:prstGeom>
        </p:spPr>
      </p:pic>
      <p:pic>
        <p:nvPicPr>
          <p:cNvPr id="11" name="Graphic 10" descr="Checkmark with solid fill">
            <a:extLst>
              <a:ext uri="{FF2B5EF4-FFF2-40B4-BE49-F238E27FC236}">
                <a16:creationId xmlns:a16="http://schemas.microsoft.com/office/drawing/2014/main" id="{A2712EAE-F4D7-83F5-FD7E-3AF4FB953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523" y="2132652"/>
            <a:ext cx="154143" cy="154143"/>
          </a:xfrm>
          <a:prstGeom prst="rect">
            <a:avLst/>
          </a:prstGeom>
        </p:spPr>
      </p:pic>
      <p:pic>
        <p:nvPicPr>
          <p:cNvPr id="12" name="Graphic 11" descr="Checkmark with solid fill">
            <a:extLst>
              <a:ext uri="{FF2B5EF4-FFF2-40B4-BE49-F238E27FC236}">
                <a16:creationId xmlns:a16="http://schemas.microsoft.com/office/drawing/2014/main" id="{4EF7C9D7-FDA2-871A-BEFC-8865985B9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522" y="2339643"/>
            <a:ext cx="154143" cy="154143"/>
          </a:xfrm>
          <a:prstGeom prst="rect">
            <a:avLst/>
          </a:prstGeom>
        </p:spPr>
      </p:pic>
      <p:pic>
        <p:nvPicPr>
          <p:cNvPr id="13" name="Graphic 12" descr="Checkmark with solid fill">
            <a:extLst>
              <a:ext uri="{FF2B5EF4-FFF2-40B4-BE49-F238E27FC236}">
                <a16:creationId xmlns:a16="http://schemas.microsoft.com/office/drawing/2014/main" id="{D8CB68FE-C49E-7D58-49CC-81FDB11FA2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521" y="2522569"/>
            <a:ext cx="154143" cy="154143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55BCE1A3-1F10-9FFD-205D-3C7E6B8703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520" y="2729560"/>
            <a:ext cx="154143" cy="154143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19CDB9ED-7ACB-581A-FB9B-FF5643B772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7519" y="2931738"/>
            <a:ext cx="154143" cy="15414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1092CEDE-D41A-CC23-53FE-FC3C8494B0A6}"/>
              </a:ext>
            </a:extLst>
          </p:cNvPr>
          <p:cNvGrpSpPr/>
          <p:nvPr/>
        </p:nvGrpSpPr>
        <p:grpSpPr>
          <a:xfrm>
            <a:off x="1908629" y="3482696"/>
            <a:ext cx="5080000" cy="1371600"/>
            <a:chOff x="1908629" y="3482696"/>
            <a:chExt cx="5080000" cy="137160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9D13F45D-E302-B7F7-6E5F-B0C23EF11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08629" y="3482696"/>
              <a:ext cx="5080000" cy="13716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4B7DD69-E901-A27B-EEF5-BDC3029FDDA9}"/>
                </a:ext>
              </a:extLst>
            </p:cNvPr>
            <p:cNvSpPr txBox="1"/>
            <p:nvPr/>
          </p:nvSpPr>
          <p:spPr>
            <a:xfrm>
              <a:off x="3106056" y="4153982"/>
              <a:ext cx="31641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800" dirty="0">
                  <a:solidFill>
                    <a:srgbClr val="CDC9C6"/>
                  </a:solidFill>
                  <a:latin typeface="Roboto Slab" pitchFamily="2" charset="0"/>
                  <a:ea typeface="Roboto Slab" pitchFamily="2" charset="0"/>
                  <a:cs typeface="Consolas" pitchFamily="34" charset="-120"/>
                </a:rPr>
                <a:t>Software Developer </a:t>
              </a:r>
              <a:r>
                <a:rPr lang="en-US" sz="1800" dirty="0" err="1">
                  <a:solidFill>
                    <a:srgbClr val="CDC9C6"/>
                  </a:solidFill>
                  <a:latin typeface="Roboto Slab" pitchFamily="2" charset="0"/>
                  <a:ea typeface="Roboto Slab" pitchFamily="2" charset="0"/>
                  <a:cs typeface="Consolas" pitchFamily="34" charset="-120"/>
                </a:rPr>
                <a:t>Lvl</a:t>
              </a:r>
              <a:r>
                <a:rPr lang="en-US" sz="1800" dirty="0">
                  <a:solidFill>
                    <a:srgbClr val="CDC9C6"/>
                  </a:solidFill>
                  <a:latin typeface="Roboto Slab" pitchFamily="2" charset="0"/>
                  <a:ea typeface="Roboto Slab" pitchFamily="2" charset="0"/>
                  <a:cs typeface="Consolas" pitchFamily="34" charset="-120"/>
                </a:rPr>
                <a:t> 1</a:t>
              </a:r>
              <a:endParaRPr lang="en-US" sz="1800" dirty="0">
                <a:solidFill>
                  <a:srgbClr val="CDC9C6"/>
                </a:solidFill>
                <a:latin typeface="Roboto Slab" pitchFamily="2" charset="0"/>
                <a:ea typeface="Roboto Slab" pitchFamily="2" charset="0"/>
              </a:endParaRPr>
            </a:p>
          </p:txBody>
        </p:sp>
      </p:grp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 Workshop TDFC">
  <a:themeElements>
    <a:clrScheme name="Simple Light">
      <a:dk1>
        <a:srgbClr val="103C46"/>
      </a:dk1>
      <a:lt1>
        <a:srgbClr val="FFFFFF"/>
      </a:lt1>
      <a:dk2>
        <a:srgbClr val="494949"/>
      </a:dk2>
      <a:lt2>
        <a:srgbClr val="EEEEEE"/>
      </a:lt2>
      <a:accent1>
        <a:srgbClr val="82C0CC"/>
      </a:accent1>
      <a:accent2>
        <a:srgbClr val="FF8C2B"/>
      </a:accent2>
      <a:accent3>
        <a:srgbClr val="CDECF1"/>
      </a:accent3>
      <a:accent4>
        <a:srgbClr val="BEBEBE"/>
      </a:accent4>
      <a:accent5>
        <a:srgbClr val="2584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6311</Words>
  <Application>Microsoft Macintosh PowerPoint</Application>
  <PresentationFormat>On-screen Show (16:9)</PresentationFormat>
  <Paragraphs>436</Paragraphs>
  <Slides>36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Montserrat Light</vt:lpstr>
      <vt:lpstr>Montserrat Medium</vt:lpstr>
      <vt:lpstr>Arial</vt:lpstr>
      <vt:lpstr>Montserrat</vt:lpstr>
      <vt:lpstr>Barlow Semi Condensed Medium</vt:lpstr>
      <vt:lpstr>Roboto Slab</vt:lpstr>
      <vt:lpstr>Wingdings</vt:lpstr>
      <vt:lpstr>Consolas</vt:lpstr>
      <vt:lpstr>Montserrat SemiBold</vt:lpstr>
      <vt:lpstr>Barlow Semi Condensed</vt:lpstr>
      <vt:lpstr>Courier New</vt:lpstr>
      <vt:lpstr>R Workshop TDFC</vt:lpstr>
      <vt:lpstr>Consumer Decision-Making Analysis in R</vt:lpstr>
      <vt:lpstr>Overview</vt:lpstr>
      <vt:lpstr>The three-day roadmap</vt:lpstr>
      <vt:lpstr>The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journey</vt:lpstr>
      <vt:lpstr>The Repository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Maximilian Agostini</cp:lastModifiedBy>
  <cp:revision>62</cp:revision>
  <dcterms:modified xsi:type="dcterms:W3CDTF">2026-06-02T19:03:53Z</dcterms:modified>
</cp:coreProperties>
</file>